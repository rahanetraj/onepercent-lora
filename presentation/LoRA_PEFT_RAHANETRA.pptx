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37bf5eb-da0f-6a74-852b-32c141609222}">
          <p14:sldIdLst>
            <p14:sldId id="256"/>
            <p14:sldId id="257"/>
            <p14:sldId id="258"/>
          </p14:sldIdLst>
        </p14:section>
        <p14:section name="Méthodologie" id="{3b713223-6be8-f01e-23db-737dc71dbaac}">
          <p14:sldIdLst>
            <p14:sldId id="259"/>
            <p14:sldId id="260"/>
            <p14:sldId id="261"/>
          </p14:sldIdLst>
        </p14:section>
        <p14:section name="Résultats" id="{297a941e-5ff2-cd2e-62dc-4801e4338fcf}">
          <p14:sldIdLst>
            <p14:sldId id="262"/>
            <p14:sldId id="263"/>
          </p14:sldIdLst>
        </p14:section>
        <p14:section name="Conclusion" id="{cab47e97-827c-0eec-1172-c048a41015d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6"/>
                </a:solidFill>
                <a:latin typeface="+mn-lt"/>
              </a:rPr>
              <a:t>Accuracy sur la validation SST-2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8FA3A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5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Tête seule</c:v>
                  </c:pt>
                  <c:pt idx="1">
                    <c:v>LoRA r=4</c:v>
                  </c:pt>
                  <c:pt idx="2">
                    <c:v>LoRA r=8</c:v>
                  </c:pt>
                  <c:pt idx="3">
                    <c:v>LoRA r=16</c:v>
                  </c:pt>
                  <c:pt idx="4">
                    <c:v>LoRA maison r=8</c:v>
                  </c:pt>
                  <c:pt idx="5">
                    <c:v>Fine-tuning complet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83.14</c:v>
                </c:pt>
                <c:pt idx="1">
                  <c:v>89.11</c:v>
                </c:pt>
                <c:pt idx="2">
                  <c:v>88.19</c:v>
                </c:pt>
                <c:pt idx="3">
                  <c:v>88.88</c:v>
                </c:pt>
                <c:pt idx="4">
                  <c:v>88.07</c:v>
                </c:pt>
                <c:pt idx="5">
                  <c:v>89.33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B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80"/>
        </c:scaling>
        <c:delete val="0"/>
        <c:axPos val="b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6"/>
                </a:solidFill>
                <a:latin typeface="+mn-lt"/>
              </a:rPr>
              <a:t>Durée d'entraînement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8FA3A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5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Tête seule</c:v>
                  </c:pt>
                  <c:pt idx="1">
                    <c:v>LoRA r=4</c:v>
                  </c:pt>
                  <c:pt idx="2">
                    <c:v>LoRA r=8</c:v>
                  </c:pt>
                  <c:pt idx="3">
                    <c:v>LoRA r=16</c:v>
                  </c:pt>
                  <c:pt idx="4">
                    <c:v>LoRA maison r=8</c:v>
                  </c:pt>
                  <c:pt idx="5">
                    <c:v>Fine-tuning complet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2.9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D2B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100" b="0" i="0" u="none" strike="noStrike">
                <a:solidFill>
                  <a:srgbClr val="1D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6"/>
                </a:solidFill>
                <a:latin typeface="+mn-lt"/>
              </a:rPr>
              <a:t>Pic mémoire GPU (Mo)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</c:v>
                </c:pt>
              </c:strCache>
            </c:strRef>
          </c:tx>
          <c:spPr>
            <a:solidFill>
              <a:srgbClr val="8FA3A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5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Tête seule</c:v>
                  </c:pt>
                  <c:pt idx="1">
                    <c:v>LoRA r=4</c:v>
                  </c:pt>
                  <c:pt idx="2">
                    <c:v>LoRA r=8</c:v>
                  </c:pt>
                  <c:pt idx="3">
                    <c:v>LoRA r=16</c:v>
                  </c:pt>
                  <c:pt idx="4">
                    <c:v>LoRA maison r=8</c:v>
                  </c:pt>
                  <c:pt idx="5">
                    <c:v>Fine-tuning complet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393</c:v>
                </c:pt>
                <c:pt idx="1">
                  <c:v>800</c:v>
                </c:pt>
                <c:pt idx="2">
                  <c:v>804</c:v>
                </c:pt>
                <c:pt idx="3">
                  <c:v>806</c:v>
                </c:pt>
                <c:pt idx="4">
                  <c:v>801</c:v>
                </c:pt>
                <c:pt idx="5">
                  <c:v>1442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D2B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100" b="0" i="0" u="none" strike="noStrike">
                <a:solidFill>
                  <a:srgbClr val="1D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D2B3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D2B36"/>
                </a:solidFill>
                <a:latin typeface="+mn-lt"/>
              </a:rPr>
              <a:t>Taille sauvegardée (Mo)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</c:v>
                </c:pt>
              </c:strCache>
            </c:strRef>
          </c:tx>
          <c:spPr>
            <a:solidFill>
              <a:srgbClr val="8FA3A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9B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5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Tête seule</c:v>
                  </c:pt>
                  <c:pt idx="1">
                    <c:v>LoRA r=4</c:v>
                  </c:pt>
                  <c:pt idx="2">
                    <c:v>LoRA r=8</c:v>
                  </c:pt>
                  <c:pt idx="3">
                    <c:v>LoRA r=16</c:v>
                  </c:pt>
                  <c:pt idx="4">
                    <c:v>LoRA maison r=8</c:v>
                  </c:pt>
                  <c:pt idx="5">
                    <c:v>Fine-tuning complet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255.4</c:v>
                </c:pt>
                <c:pt idx="1">
                  <c:v>2.5</c:v>
                </c:pt>
                <c:pt idx="2">
                  <c:v>2.8</c:v>
                </c:pt>
                <c:pt idx="3">
                  <c:v>3.4</c:v>
                </c:pt>
                <c:pt idx="4">
                  <c:v>2.8</c:v>
                </c:pt>
                <c:pt idx="5">
                  <c:v>255.4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D2B3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100" b="0" i="0" u="none" strike="noStrike">
                <a:solidFill>
                  <a:srgbClr val="1D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final : LoRA, une méthode d'adaptation efficace en paramètres.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un LLM de 7 milliards de paramètres, le fine-tuning complet dépasse 100 Go de mémoire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s'appuie sur la faible dimension intrinsèque des modèles pré-entraînés (Aghajanyan 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produit BA n'est jamais matérialisé pendant l'entraînement : on calcule (x Aᵀ) Bᵀ.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DistilBERT : 18 432·r paramètres LoRA + 592 130 pour la tête. Pour r = 8 : 739 586, soit 1,10 %.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Toutes les durées sont mesurées avec synchronisation CUDA ; mémoire = torch.cuda.max_memory_allocated.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LoRA maison et la LoRA PEFT donnent des résultats proches : l'implémentation est validée.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Mesures réelles sur la GTX 1050. Le checkpoint LoRA contient l'adaptateur et la tête de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de l'application pendant la soutenance.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Merci. Questions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RAHANETRA F. J. · M1 IA &amp; Big Data · Python avancé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un modèle de langage en n'entraînant que 1 % de ses poids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La méthode PEFT–LoRA appliquée à DistilBERT · classification de sentiments SST-2</a:t>
            </a:r>
            <a:endParaRPr lang="en-US" sz="2000" dirty="0"/>
          </a:p>
        </p:txBody>
      </p:sp>
      <p:sp>
        <p:nvSpPr>
          <p:cNvPr id="4" name="auteur"/>
          <p:cNvSpPr txBox="1"/>
          <p:nvPr/>
        </p:nvSpPr>
        <p:spPr>
          <a:xfrm>
            <a:off x="731520" y="5120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RAHANETRA Fanasina Jason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Master 1 Intelligence Artificielle et Big Data · Python avancé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Enseignant : RATIARISON Tsinto Aina ·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fine-tuning complet coûte trop cher en mémoire et en stockage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548640" y="15544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paramètres dans DistilBERT, tous mis à jour</a:t>
            </a:r>
            <a:endParaRPr lang="en-US" sz="1700" dirty="0"/>
          </a:p>
        </p:txBody>
      </p:sp>
      <p:sp>
        <p:nvSpPr>
          <p:cNvPr id="6" name="stat-1"/>
          <p:cNvSpPr/>
          <p:nvPr/>
        </p:nvSpPr>
        <p:spPr>
          <a:xfrm>
            <a:off x="4297680" y="15544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octets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 paramètre entraînable : poids, gradient, 2 moments Adam</a:t>
            </a:r>
            <a:endParaRPr lang="en-US" sz="1700" dirty="0"/>
          </a:p>
        </p:txBody>
      </p:sp>
      <p:sp>
        <p:nvSpPr>
          <p:cNvPr id="9" name="stat-2"/>
          <p:cNvSpPr/>
          <p:nvPr/>
        </p:nvSpPr>
        <p:spPr>
          <a:xfrm>
            <a:off x="8046720" y="155448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7830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 Mo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9260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à sauvegarder pour chaque nouvelle tâche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Question de recherche 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peut-on adapter un modèle pré-entraîné en n'entraînant qu'une petite fraction de ses paramètres, sans perdre en précision, sur une carte de 4 Go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familles de méthodes PEFT, LoRA ne coûte rien à l'inférence</a:t>
            </a:r>
            <a:endParaRPr lang="en-US" sz="3400" dirty="0"/>
          </a:p>
        </p:txBody>
      </p:sp>
      <p:sp>
        <p:nvSpPr>
          <p:cNvPr id="3" name="famille-0"/>
          <p:cNvSpPr/>
          <p:nvPr/>
        </p:nvSpPr>
        <p:spPr>
          <a:xfrm>
            <a:off x="54864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Houlsby 2019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Petits réseaux insérés dans chaque bloc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Latence ajoutée à l'inférence</a:t>
            </a:r>
            <a:endParaRPr lang="en-US" sz="1600" dirty="0"/>
          </a:p>
        </p:txBody>
      </p:sp>
      <p:sp>
        <p:nvSpPr>
          <p:cNvPr id="8" name="famille-1"/>
          <p:cNvSpPr/>
          <p:nvPr/>
        </p:nvSpPr>
        <p:spPr>
          <a:xfrm>
            <a:off x="429768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appris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 &amp; Liang 2021 · Lester 2021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Vecteurs appris ajoutés à l'entrée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Instables, consomment la séquence</a:t>
            </a:r>
            <a:endParaRPr lang="en-US" sz="1600" dirty="0"/>
          </a:p>
        </p:txBody>
      </p:sp>
      <p:sp>
        <p:nvSpPr>
          <p:cNvPr id="13" name="famille-2"/>
          <p:cNvSpPr/>
          <p:nvPr/>
        </p:nvSpPr>
        <p:spPr>
          <a:xfrm>
            <a:off x="804672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Hu et al. 2022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Mise à jour de rang faible ΔW = BA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Fusionnable : zéro surcoût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Variantes récentes : QLoRA (base 4 bits), AdaLoRA (rang adaptatif), DoRA (amplitude + direction).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gèle W₀ et n'apprend que deux petites matrices A et 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800" dirty="0"/>
          </a:p>
        </p:txBody>
      </p:sp>
      <p:sp>
        <p:nvSpPr>
          <p:cNvPr id="4" name="W0"/>
          <p:cNvSpPr/>
          <p:nvPr/>
        </p:nvSpPr>
        <p:spPr>
          <a:xfrm>
            <a:off x="1645920" y="1737360"/>
            <a:ext cx="2377440" cy="2651760"/>
          </a:xfrm>
          <a:prstGeom prst="rect">
            <a:avLst/>
          </a:prstGeom>
          <a:solidFill>
            <a:srgbClr val="C9D3D6"/>
          </a:solidFill>
          <a:ln w="12700">
            <a:solidFill>
              <a:srgbClr val="C9D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2560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W₀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768 × 768 · gelé</a:t>
            </a:r>
            <a:endParaRPr lang="en-US" sz="3000" dirty="0"/>
          </a:p>
        </p:txBody>
      </p:sp>
      <p:sp>
        <p:nvSpPr>
          <p:cNvPr id="6" name="A"/>
          <p:cNvSpPr/>
          <p:nvPr/>
        </p:nvSpPr>
        <p:spPr>
          <a:xfrm>
            <a:off x="4572000" y="1737360"/>
            <a:ext cx="2377440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 (r × 768)</a:t>
            </a:r>
            <a:endParaRPr lang="en-US" sz="1400" dirty="0"/>
          </a:p>
        </p:txBody>
      </p:sp>
      <p:sp>
        <p:nvSpPr>
          <p:cNvPr id="8" name="B"/>
          <p:cNvSpPr/>
          <p:nvPr/>
        </p:nvSpPr>
        <p:spPr>
          <a:xfrm>
            <a:off x="4572000" y="2423160"/>
            <a:ext cx="502920" cy="1965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29260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 (768 × r) = 0 au départ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743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+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800" dirty="0"/>
          </a:p>
        </p:txBody>
      </p:sp>
      <p:pic>
        <p:nvPicPr>
          <p:cNvPr id="12" name="formule-lora" descr="/home/rahanetra-fanasina-jason/Documents/M1/PYTHON AVANCÉ/projet_lora/figures/formulas/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62903"/>
            <a:ext cx="6891083" cy="51547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961120" y="173736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Entraîné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et B sur Wq et Wv des 6 blocs, plus la tête de classification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Gelé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les 66 M autres paramètres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Moins de 2 % des paramètres d'une matrice, et fusion sans latence</a:t>
            </a:r>
            <a:endParaRPr lang="en-US" sz="3400" dirty="0"/>
          </a:p>
        </p:txBody>
      </p:sp>
      <p:sp>
        <p:nvSpPr>
          <p:cNvPr id="3" name="ligne-0"/>
          <p:cNvSpPr/>
          <p:nvPr/>
        </p:nvSpPr>
        <p:spPr>
          <a:xfrm>
            <a:off x="548640" y="141732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Initialisation</a:t>
            </a:r>
            <a:endParaRPr lang="en-US" sz="1600" dirty="0"/>
          </a:p>
        </p:txBody>
      </p:sp>
      <p:pic>
        <p:nvPicPr>
          <p:cNvPr id="5" name="formule-init" descr="/home/rahanetra-fanasina-jason/Documents/M1/PYTHON AVANCÉ/projet_lora/figures/formulas/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19128"/>
            <a:ext cx="4800874" cy="401056"/>
          </a:xfrm>
          <a:prstGeom prst="rect">
            <a:avLst/>
          </a:prstGeom>
        </p:spPr>
      </p:pic>
      <p:sp>
        <p:nvSpPr>
          <p:cNvPr id="6" name="ligne-1"/>
          <p:cNvSpPr/>
          <p:nvPr/>
        </p:nvSpPr>
        <p:spPr>
          <a:xfrm>
            <a:off x="548640" y="2359152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35915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Ratio de paramètres</a:t>
            </a:r>
            <a:endParaRPr lang="en-US" sz="1600" dirty="0"/>
          </a:p>
        </p:txBody>
      </p:sp>
      <p:pic>
        <p:nvPicPr>
          <p:cNvPr id="8" name="formule-params" descr="/home/rahanetra-fanasina-jason/Documents/M1/PYTHON AVANCÉ/projet_lora/figures/formulas/par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480356"/>
            <a:ext cx="3782507" cy="562265"/>
          </a:xfrm>
          <a:prstGeom prst="rect">
            <a:avLst/>
          </a:prstGeom>
        </p:spPr>
      </p:pic>
      <p:sp>
        <p:nvSpPr>
          <p:cNvPr id="9" name="ligne-2"/>
          <p:cNvSpPr/>
          <p:nvPr/>
        </p:nvSpPr>
        <p:spPr>
          <a:xfrm>
            <a:off x="548640" y="3300984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0098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Gradients (s = α/r)</a:t>
            </a:r>
            <a:endParaRPr lang="en-US" sz="1600" dirty="0"/>
          </a:p>
        </p:txBody>
      </p:sp>
      <p:pic>
        <p:nvPicPr>
          <p:cNvPr id="11" name="formule-grad" descr="/home/rahanetra-fanasina-jason/Documents/M1/PYTHON AVANCÉ/projet_lora/figures/formula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465439"/>
            <a:ext cx="4883445" cy="475762"/>
          </a:xfrm>
          <a:prstGeom prst="rect">
            <a:avLst/>
          </a:prstGeom>
        </p:spPr>
      </p:pic>
      <p:sp>
        <p:nvSpPr>
          <p:cNvPr id="12" name="ligne-3"/>
          <p:cNvSpPr/>
          <p:nvPr/>
        </p:nvSpPr>
        <p:spPr>
          <a:xfrm>
            <a:off x="548640" y="4242816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2960" y="424281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Mémoire AdamW (fp32)</a:t>
            </a:r>
            <a:endParaRPr lang="en-US" sz="1600" dirty="0"/>
          </a:p>
        </p:txBody>
      </p:sp>
      <p:pic>
        <p:nvPicPr>
          <p:cNvPr id="14" name="formule-memory" descr="/home/rahanetra-fanasina-jason/Documents/M1/PYTHON AVANCÉ/projet_lora/figures/formulas/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444624"/>
            <a:ext cx="3727460" cy="401056"/>
          </a:xfrm>
          <a:prstGeom prst="rect">
            <a:avLst/>
          </a:prstGeom>
        </p:spPr>
      </p:pic>
      <p:sp>
        <p:nvSpPr>
          <p:cNvPr id="15" name="ligne-4"/>
          <p:cNvSpPr/>
          <p:nvPr/>
        </p:nvSpPr>
        <p:spPr>
          <a:xfrm>
            <a:off x="548640" y="5184648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22960" y="51846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Fusion pour l'inférence</a:t>
            </a:r>
            <a:endParaRPr lang="en-US" sz="1600" dirty="0"/>
          </a:p>
        </p:txBody>
      </p:sp>
      <p:pic>
        <p:nvPicPr>
          <p:cNvPr id="17" name="formule-merge" descr="/home/rahanetra-fanasina-jason/Documents/M1/PYTHON AVANCÉ/projet_lora/figures/formulas/me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5384490"/>
            <a:ext cx="5945063" cy="4049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: 6 configurations, mêmes données, même machine</a:t>
            </a:r>
            <a:endParaRPr lang="en-US" sz="3400" dirty="0"/>
          </a:p>
        </p:txBody>
      </p:sp>
      <p:sp>
        <p:nvSpPr>
          <p:cNvPr id="3" name="protocole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DistilBERT-base-uncased · SST-2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20 000 phrases d'entraînement, 872 de validation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2 époques, lots de 32, 128 jetons max, AdamW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LoRA sur Wq, Wv · α = 16 · r ∈ {4, 8, 16}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Comparés : tête seule, fine-tuning complet, LoRA PEFT, LoRA maison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45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de l'ordinateur</a:t>
            </a:r>
            <a:endParaRPr lang="en-US" sz="2000" dirty="0"/>
          </a:p>
        </p:txBody>
      </p:sp>
      <p:graphicFrame>
        <p:nvGraphicFramePr>
          <p:cNvPr id="7" name="table-machin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40280"/>
          <a:ext cx="5212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GPU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NVIDIA GeForce GTX 1050 · 4 Go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Calcul CUDA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CUDA 12.1 · capacité 6.1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Intel Core i5-8300H @ 2.30GHz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RAM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15,3 Go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Système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Linux 7.0.0-34-generic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Logiciels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3.12.9 · PyTorch 2.5.1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atteint 89,1 % de précision avec ~1 % des paramètres</a:t>
            </a:r>
            <a:endParaRPr lang="en-US" sz="3400" dirty="0"/>
          </a:p>
        </p:txBody>
      </p:sp>
      <p:graphicFrame>
        <p:nvGraphicFramePr>
          <p:cNvPr id="3" name="graphe-accuracy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-resulta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554480"/>
          <a:ext cx="38404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258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Méthode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Param. entraînables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F1 (%)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Tête seule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592 130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83,58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LoRA r=4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665 858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89,31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LoRA r=8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739 586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88,72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LoRA r=16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887 042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89,26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LoRA maison r=8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739 586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88,34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Fine-tuning complet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66 955 010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89,77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772400" y="4754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Le fine-tuning complet entraîne 90 × plus de paramètres que LoRA r=8.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Profilage : LoRA réduit la mémoire GPU et le stockage</a:t>
            </a:r>
            <a:endParaRPr lang="en-US" sz="3400" dirty="0"/>
          </a:p>
        </p:txBody>
      </p:sp>
      <p:graphicFrame>
        <p:nvGraphicFramePr>
          <p:cNvPr id="3" name="graphe-temps" descr=""/>
          <p:cNvGraphicFramePr/>
          <p:nvPr/>
        </p:nvGraphicFramePr>
        <p:xfrm>
          <a:off x="457200" y="1371600"/>
          <a:ext cx="3749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graphe-memoire" descr=""/>
          <p:cNvGraphicFramePr/>
          <p:nvPr/>
        </p:nvGraphicFramePr>
        <p:xfrm>
          <a:off x="4251960" y="1371600"/>
          <a:ext cx="3749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graphe-disque" descr=""/>
          <p:cNvGraphicFramePr/>
          <p:nvPr/>
        </p:nvGraphicFramePr>
        <p:xfrm>
          <a:off x="8046720" y="1371600"/>
          <a:ext cx="3749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LoRA r=8 face au fine-tuning complet : −44 % de mémoire GPU, −32 % de temps, un checkpoint 90 × plus léger.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fonctionnelle : analyse de sentiment en direct</a:t>
            </a:r>
            <a:endParaRPr lang="en-US" sz="3400" dirty="0"/>
          </a:p>
        </p:txBody>
      </p:sp>
      <p:pic>
        <p:nvPicPr>
          <p:cNvPr id="3" name="capture-app" descr="/home/rahanetra-fanasina-jason/Documents/M1/PYTHON AVANCÉ/projet_lora/figures/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320182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D2B36">
                <a:alpha val="25000"/>
              </a:srgbClr>
            </a:outerShdw>
          </a:effectLst>
        </p:spPr>
      </p:pic>
      <p:sp>
        <p:nvSpPr>
          <p:cNvPr id="4" name="app-info"/>
          <p:cNvSpPr/>
          <p:nvPr/>
        </p:nvSpPr>
        <p:spPr>
          <a:xfrm>
            <a:off x="8412480" y="1417320"/>
            <a:ext cx="3200400" cy="384048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645920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Gradio + PEFT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Choix de l'adaptateur r = 4, 8 ou 16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Fusion W₀ + (α/r)BA au chargement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Probabilités et latence affichées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Métriques du modèle affichées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Lancement : python app.py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: la précision du fine-tuning complet, pour une fraction du coût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89,1 % (LoRA r=4) contre 89,3 % : −44 % de mémoire GPU, −32 % de temps, checkpoint 90 × plus léger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Perspectives 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QLoRA pour un LLM sur 4 Go · LoRA sur toutes les couches · rang adaptatif (AdaLoRA) · tâches génératives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RA Teal">
  <a:themeElements>
    <a:clrScheme name="LoRA Teal">
      <a:dk1>
        <a:srgbClr val="1D2B36"/>
      </a:dk1>
      <a:lt1>
        <a:srgbClr val="FFFFFF"/>
      </a:lt1>
      <a:dk2>
        <a:srgbClr val="0E3B43"/>
      </a:dk2>
      <a:lt2>
        <a:srgbClr val="EEF4F3"/>
      </a:lt2>
      <a:accent1>
        <a:srgbClr val="0F766E"/>
      </a:accent1>
      <a:accent2>
        <a:srgbClr val="E39B2D"/>
      </a:accent2>
      <a:accent3>
        <a:srgbClr val="5FA8A0"/>
      </a:accent3>
      <a:accent4>
        <a:srgbClr val="C2553A"/>
      </a:accent4>
      <a:accent5>
        <a:srgbClr val="8FA3AD"/>
      </a:accent5>
      <a:accent6>
        <a:srgbClr val="2C4A52"/>
      </a:accent6>
      <a:hlink>
        <a:srgbClr val="0F766E"/>
      </a:hlink>
      <a:folHlink>
        <a:srgbClr val="2C4A52"/>
      </a:folHlink>
    </a:clrScheme>
    <a:fontScheme name="LoRA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— Parameter-Efficient Fine-Tuning</dc:title>
  <dc:subject>PptxGenJS Presentation</dc:subject>
  <dc:creator>RAHANETRA Fanasina Jason</dc:creator>
  <cp:lastModifiedBy>RAHANETRA Fanasina Jason</cp:lastModifiedBy>
  <cp:revision>1</cp:revision>
  <dcterms:created xsi:type="dcterms:W3CDTF">2026-10-08T03:43:27Z</dcterms:created>
  <dcterms:modified xsi:type="dcterms:W3CDTF">2026-10-08T03:43:27Z</dcterms:modified>
</cp:coreProperties>
</file>